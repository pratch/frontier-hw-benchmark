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63" r:id="rId6"/>
    <p:sldId id="274" r:id="rId7"/>
    <p:sldId id="275" r:id="rId8"/>
    <p:sldId id="276" r:id="rId9"/>
    <p:sldId id="264" r:id="rId10"/>
    <p:sldId id="265" r:id="rId11"/>
    <p:sldId id="278" r:id="rId12"/>
    <p:sldId id="266" r:id="rId13"/>
    <p:sldId id="279" r:id="rId14"/>
    <p:sldId id="281" r:id="rId15"/>
    <p:sldId id="282" r:id="rId16"/>
    <p:sldId id="284" r:id="rId17"/>
    <p:sldId id="268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/>
    <p:restoredTop sz="94647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A6BB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8CA-4B76-867D-6C2B8D81E5E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1A1A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Qwen2-VL-2B (ours)</c:v>
              </c:pt>
              <c:pt idx="1">
                <c:v>Claude 3 Opus</c:v>
              </c:pt>
              <c:pt idx="2">
                <c:v>Claude 3 Sonnet</c:v>
              </c:pt>
              <c:pt idx="3">
                <c:v>GPT-4o</c:v>
              </c:pt>
              <c:pt idx="4">
                <c:v>Claude 3.5 Sonnet</c:v>
              </c:pt>
            </c:strLit>
          </c:cat>
          <c:val>
            <c:numLit>
              <c:formatCode>General</c:formatCode>
              <c:ptCount val="5"/>
              <c:pt idx="0">
                <c:v>75.760000000000005</c:v>
              </c:pt>
              <c:pt idx="1">
                <c:v>80.8</c:v>
              </c:pt>
              <c:pt idx="2">
                <c:v>81.099999999999994</c:v>
              </c:pt>
              <c:pt idx="3">
                <c:v>85.7</c:v>
              </c:pt>
              <c:pt idx="4">
                <c:v>90.8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8CA-4B76-867D-6C2B8D81E5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DAA5F-28D1-4CC1-B108-4424C5148A2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8C417-A3B4-4689-93AD-4028AE788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04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oecd</a:t>
            </a:r>
            <a:r>
              <a:rPr lang="en-US" dirty="0"/>
              <a:t> = org for economic cooperative development (like </a:t>
            </a:r>
            <a:r>
              <a:rPr lang="en-US" dirty="0" err="1"/>
              <a:t>gdp</a:t>
            </a:r>
            <a:r>
              <a:rPr lang="en-US" dirty="0"/>
              <a:t>, life </a:t>
            </a:r>
            <a:r>
              <a:rPr lang="en-US" dirty="0" err="1"/>
              <a:t>satisfac</a:t>
            </a:r>
            <a:r>
              <a:rPr lang="en-US" dirty="0"/>
              <a:t> data)</a:t>
            </a:r>
          </a:p>
          <a:p>
            <a:r>
              <a:rPr lang="en-US" dirty="0" err="1"/>
              <a:t>owid</a:t>
            </a:r>
            <a:r>
              <a:rPr lang="en-US" dirty="0"/>
              <a:t> = our world in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8C417-A3B4-4689-93AD-4028AE7882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7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-cdn.anthropic.com/c7822cdc35ad788ec87e14b3a9d45010f1f86c38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-cdn.anthropic.com/c7822cdc35ad788ec87e14b3a9d45010f1f86c38.pdf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tch/frontier-hw-benchmark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80E8-5053-457F-3316-457D1C4A76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ChartQA</a:t>
            </a:r>
            <a:r>
              <a:rPr lang="en-US" dirty="0"/>
              <a:t> Benchmark on Qwen2-VL-2B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8E9196-89AA-819A-B09C-A96B62939C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Pratch Piyawongwisal</a:t>
            </a:r>
          </a:p>
        </p:txBody>
      </p:sp>
    </p:spTree>
    <p:extLst>
      <p:ext uri="{BB962C8B-B14F-4D97-AF65-F5344CB8AC3E}">
        <p14:creationId xmlns:p14="http://schemas.microsoft.com/office/powerpoint/2010/main" val="1603170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5F13-90E9-E7E8-6441-73A9BCAB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ChartQA</a:t>
            </a:r>
            <a:r>
              <a:rPr lang="en-US" dirty="0"/>
              <a:t> (Masry et al., ACL 2022 Findings)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6E0B3-6A84-4A31-3669-96252A9C8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 err="1"/>
              <a:t>ChartQA</a:t>
            </a:r>
            <a:r>
              <a:rPr lang="en-US" dirty="0"/>
              <a:t> benchmark </a:t>
            </a:r>
          </a:p>
          <a:p>
            <a:pPr lvl="1"/>
            <a:r>
              <a:rPr lang="en-US" dirty="0"/>
              <a:t>Visual QA on charts &amp; figures</a:t>
            </a:r>
          </a:p>
          <a:p>
            <a:r>
              <a:rPr lang="en-US" dirty="0"/>
              <a:t>Data sources </a:t>
            </a:r>
          </a:p>
          <a:p>
            <a:pPr lvl="1"/>
            <a:r>
              <a:rPr lang="en-US" dirty="0"/>
              <a:t>Statistica, Pew Research, OWID, OECD</a:t>
            </a:r>
          </a:p>
          <a:p>
            <a:r>
              <a:rPr lang="en-US" dirty="0"/>
              <a:t>Topics</a:t>
            </a:r>
          </a:p>
          <a:p>
            <a:pPr lvl="1"/>
            <a:r>
              <a:rPr lang="en-US" dirty="0"/>
              <a:t>Politics, Society, Economy, Health, Global Problems, etc.</a:t>
            </a:r>
          </a:p>
          <a:p>
            <a:r>
              <a:rPr lang="en-US" dirty="0"/>
              <a:t>Test set: 2.5k questions</a:t>
            </a:r>
          </a:p>
          <a:p>
            <a:pPr lvl="1"/>
            <a:r>
              <a:rPr lang="en-US" dirty="0"/>
              <a:t>ChartQA-H: 1,250 human-written, reasoning (harder)</a:t>
            </a:r>
          </a:p>
          <a:p>
            <a:pPr lvl="1"/>
            <a:r>
              <a:rPr lang="en-US" dirty="0"/>
              <a:t>ChartQA-M: 1,250 machine-generated, extractive (easier)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E17B7-4F48-D765-8A0B-B437EDB1C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353" y="2106029"/>
            <a:ext cx="1787026" cy="16764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686326-6DB0-F7DE-0A24-5B7541B38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746" y="1548818"/>
            <a:ext cx="1476375" cy="22336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A441BE-765B-D29E-5B53-66F0FABA3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4449" y="3917367"/>
            <a:ext cx="2081718" cy="14493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9B755A-2928-167A-68CE-B6D9AA98AB79}"/>
              </a:ext>
            </a:extLst>
          </p:cNvPr>
          <p:cNvSpPr txBox="1"/>
          <p:nvPr/>
        </p:nvSpPr>
        <p:spPr>
          <a:xfrm>
            <a:off x="863116" y="6262132"/>
            <a:ext cx="10566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I considered the newer &amp; larger </a:t>
            </a:r>
            <a:r>
              <a:rPr lang="en-US" dirty="0" err="1"/>
              <a:t>ChartBench</a:t>
            </a:r>
            <a:r>
              <a:rPr lang="en-US" dirty="0"/>
              <a:t>, but 600k test set seems unviable even for small models.</a:t>
            </a:r>
          </a:p>
        </p:txBody>
      </p:sp>
    </p:spTree>
    <p:extLst>
      <p:ext uri="{BB962C8B-B14F-4D97-AF65-F5344CB8AC3E}">
        <p14:creationId xmlns:p14="http://schemas.microsoft.com/office/powerpoint/2010/main" val="1160595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B46F-E690-C097-B67F-815AA75A8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 M-Set Question (machine, extractive)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BDEA6D-94AC-DAF8-6978-560892692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8505"/>
            <a:ext cx="6512560" cy="45343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B8683F-D52E-1006-C48E-B71A34414335}"/>
              </a:ext>
            </a:extLst>
          </p:cNvPr>
          <p:cNvSpPr txBox="1"/>
          <p:nvPr/>
        </p:nvSpPr>
        <p:spPr>
          <a:xfrm>
            <a:off x="7782560" y="2509562"/>
            <a:ext cx="396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 Q: </a:t>
            </a:r>
            <a:r>
              <a:rPr lang="en-US" sz="2400" b="0" i="1" dirty="0">
                <a:solidFill>
                  <a:schemeClr val="tx1"/>
                </a:solidFill>
                <a:effectLst/>
                <a:latin typeface="+mn-lt"/>
              </a:rPr>
              <a:t>"How many stores did Saint Laurent operate in 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+mn-lt"/>
              </a:rPr>
              <a:t>Western Europe </a:t>
            </a:r>
            <a:r>
              <a:rPr lang="en-US" sz="2400" b="0" i="1" dirty="0">
                <a:solidFill>
                  <a:schemeClr val="tx1"/>
                </a:solidFill>
                <a:effectLst/>
                <a:latin typeface="+mn-lt"/>
              </a:rPr>
              <a:t>in 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+mn-lt"/>
              </a:rPr>
              <a:t>2020</a:t>
            </a:r>
            <a:r>
              <a:rPr lang="en-US" sz="2400" b="0" i="1" dirty="0">
                <a:solidFill>
                  <a:schemeClr val="tx1"/>
                </a:solidFill>
                <a:effectLst/>
                <a:latin typeface="+mn-lt"/>
              </a:rPr>
              <a:t>?"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CE0ACF-4719-ABBB-0993-B2BC8BBE47D2}"/>
              </a:ext>
            </a:extLst>
          </p:cNvPr>
          <p:cNvSpPr txBox="1"/>
          <p:nvPr/>
        </p:nvSpPr>
        <p:spPr>
          <a:xfrm>
            <a:off x="7884160" y="4297722"/>
            <a:ext cx="386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A: 47</a:t>
            </a:r>
            <a:endParaRPr lang="en-US" sz="24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F2AFA9-AE3F-3298-ABA9-55C14D3088B8}"/>
              </a:ext>
            </a:extLst>
          </p:cNvPr>
          <p:cNvSpPr/>
          <p:nvPr/>
        </p:nvSpPr>
        <p:spPr>
          <a:xfrm>
            <a:off x="6096000" y="4403786"/>
            <a:ext cx="751840" cy="71685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68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D4B0D-F433-EE26-800B-D8E548B24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AC4BD-2A2F-45A5-26ED-B8F96CC3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 H-Set Question (human, reasoning)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7357C-142E-D1F8-C839-E6120EF21130}"/>
              </a:ext>
            </a:extLst>
          </p:cNvPr>
          <p:cNvSpPr txBox="1"/>
          <p:nvPr/>
        </p:nvSpPr>
        <p:spPr>
          <a:xfrm>
            <a:off x="5974080" y="2509562"/>
            <a:ext cx="5770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Q: </a:t>
            </a:r>
            <a:r>
              <a:rPr lang="en-US" sz="2400" b="0" i="1" dirty="0">
                <a:solidFill>
                  <a:schemeClr val="tx1"/>
                </a:solidFill>
                <a:effectLst/>
                <a:latin typeface="+mn-lt"/>
              </a:rPr>
              <a:t>"</a:t>
            </a:r>
            <a:r>
              <a:rPr lang="en-US" sz="2400" i="1" dirty="0"/>
              <a:t>What is the </a:t>
            </a:r>
            <a:r>
              <a:rPr lang="en-US" sz="2400" b="1" i="1" dirty="0"/>
              <a:t>ratio</a:t>
            </a:r>
            <a:r>
              <a:rPr lang="en-US" sz="2400" i="1" dirty="0"/>
              <a:t> of the people who approve and those who don’t about Putin's handling of </a:t>
            </a:r>
            <a:r>
              <a:rPr lang="en-US" sz="2400" b="1" i="1" dirty="0"/>
              <a:t>Corruption</a:t>
            </a:r>
            <a:r>
              <a:rPr lang="en-US" sz="2400" i="1" dirty="0"/>
              <a:t>?</a:t>
            </a:r>
            <a:r>
              <a:rPr lang="en-US" sz="2400" b="0" i="1" dirty="0">
                <a:solidFill>
                  <a:schemeClr val="tx1"/>
                </a:solidFill>
                <a:effectLst/>
                <a:latin typeface="+mn-lt"/>
              </a:rPr>
              <a:t>"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DA9481-0BFC-EFC0-2C08-278C227E6C9C}"/>
              </a:ext>
            </a:extLst>
          </p:cNvPr>
          <p:cNvSpPr txBox="1"/>
          <p:nvPr/>
        </p:nvSpPr>
        <p:spPr>
          <a:xfrm>
            <a:off x="5974080" y="4213930"/>
            <a:ext cx="386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A: 62 / 29 = 2.137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2D4EB-008E-E78D-A696-6ADEAA221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09" y="1547812"/>
            <a:ext cx="3860800" cy="53524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70506FD-6BFE-5FB9-0648-57CA5269116F}"/>
              </a:ext>
            </a:extLst>
          </p:cNvPr>
          <p:cNvSpPr/>
          <p:nvPr/>
        </p:nvSpPr>
        <p:spPr>
          <a:xfrm>
            <a:off x="1076960" y="5740400"/>
            <a:ext cx="4121149" cy="447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72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38CC1-3825-E66C-2AE1-E0A3A3FE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Paper 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39023-8A17-DA93-CA42-06A482B27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is pre-LLM, so it was originally tested on old VL-T5 models.</a:t>
            </a:r>
          </a:p>
          <a:p>
            <a:r>
              <a:rPr lang="en-US" dirty="0"/>
              <a:t>However, we can find scores on modern large LLMs from other sources like Claude 3.5 Model Card: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66B53-CC13-A49E-0ADB-3731A008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626" y="3218484"/>
            <a:ext cx="5432054" cy="32633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B2D0F4-5EA0-8AB5-0D1F-AE78A413CE17}"/>
              </a:ext>
            </a:extLst>
          </p:cNvPr>
          <p:cNvSpPr txBox="1"/>
          <p:nvPr/>
        </p:nvSpPr>
        <p:spPr>
          <a:xfrm>
            <a:off x="3677920" y="6492875"/>
            <a:ext cx="8829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https://www-cdn.anthropic.com/c7822cdc35ad788ec87e14b3a9d45010f1f86c38.pdf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3846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78E9-3D03-AA33-601F-661A52F5B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Small Model I chose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B1E82-838F-3EFB-2253-861EE1F9B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viably run on local machine (RTX 3090), I opt for:</a:t>
            </a:r>
          </a:p>
          <a:p>
            <a:pPr lvl="1"/>
            <a:r>
              <a:rPr lang="en-US" b="1" dirty="0"/>
              <a:t>Qwen2-VL-2B-Instruct (2.2B params)</a:t>
            </a:r>
          </a:p>
          <a:p>
            <a:endParaRPr lang="en-US" dirty="0"/>
          </a:p>
          <a:p>
            <a:r>
              <a:rPr lang="en-US" dirty="0"/>
              <a:t>Configurations</a:t>
            </a:r>
          </a:p>
          <a:p>
            <a:pPr lvl="1"/>
            <a:r>
              <a:rPr lang="en-US" dirty="0"/>
              <a:t>FP16; VRAM 4.54 GB</a:t>
            </a:r>
          </a:p>
          <a:p>
            <a:pPr lvl="1"/>
            <a:r>
              <a:rPr lang="en-US" dirty="0"/>
              <a:t>Greedy decoding </a:t>
            </a:r>
          </a:p>
          <a:p>
            <a:pPr lvl="1"/>
            <a:r>
              <a:rPr lang="en-US" dirty="0"/>
              <a:t>temperature 0.0, do_sample=False, seed 42, max_new_tokens=64</a:t>
            </a:r>
          </a:p>
          <a:p>
            <a:endParaRPr lang="en-US" dirty="0"/>
          </a:p>
          <a:p>
            <a:r>
              <a:rPr lang="en-US" dirty="0"/>
              <a:t>Prompt template: </a:t>
            </a:r>
          </a:p>
          <a:p>
            <a:pPr lvl="1"/>
            <a:r>
              <a:rPr lang="en-US" dirty="0"/>
              <a:t>"direct" answer only, no chain-of-thought</a:t>
            </a:r>
          </a:p>
        </p:txBody>
      </p:sp>
    </p:spTree>
    <p:extLst>
      <p:ext uri="{BB962C8B-B14F-4D97-AF65-F5344CB8AC3E}">
        <p14:creationId xmlns:p14="http://schemas.microsoft.com/office/powerpoint/2010/main" val="330088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706D-D726-AA7F-9135-DA7DBDD4D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253A6-0D3F-E55F-A99E-D7C7CD6B6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Relaxed accuracy</a:t>
            </a:r>
          </a:p>
          <a:p>
            <a:pPr lvl="1"/>
            <a:r>
              <a:rPr lang="en-US" dirty="0"/>
              <a:t>Numeric answers: correct if within 5% tolerance</a:t>
            </a:r>
          </a:p>
          <a:p>
            <a:pPr lvl="1"/>
            <a:r>
              <a:rPr lang="en-US" dirty="0"/>
              <a:t>Non-numeric answers: case-insensitive exact match</a:t>
            </a:r>
          </a:p>
          <a:p>
            <a:endParaRPr lang="en-US" dirty="0"/>
          </a:p>
          <a:p>
            <a:r>
              <a:rPr lang="en-US" b="1" dirty="0"/>
              <a:t>Prompt rewording</a:t>
            </a:r>
          </a:p>
          <a:p>
            <a:pPr lvl="1"/>
            <a:r>
              <a:rPr lang="en-US" dirty="0"/>
              <a:t>As suggested by the assignment, I try rewording the prompt in 2 ways:</a:t>
            </a:r>
          </a:p>
          <a:p>
            <a:pPr lvl="2"/>
            <a:r>
              <a:rPr lang="en-US" b="1" dirty="0"/>
              <a:t>Direct:</a:t>
            </a:r>
            <a:r>
              <a:rPr lang="en-US" dirty="0"/>
              <a:t> </a:t>
            </a:r>
            <a:br>
              <a:rPr lang="en-US" dirty="0"/>
            </a:br>
            <a:r>
              <a:rPr lang="en-US" i="1" dirty="0"/>
              <a:t>Answer the question directly using the chart. Give a short, precise answer with no extra explanation. Question: {question}</a:t>
            </a:r>
          </a:p>
          <a:p>
            <a:pPr lvl="2"/>
            <a:r>
              <a:rPr lang="en-US" b="1" dirty="0"/>
              <a:t>Concise:</a:t>
            </a:r>
            <a:r>
              <a:rPr lang="en-US" dirty="0"/>
              <a:t> </a:t>
            </a:r>
            <a:br>
              <a:rPr lang="en-US" dirty="0"/>
            </a:br>
            <a:r>
              <a:rPr lang="en-US" i="1" dirty="0"/>
              <a:t>Look at the chart and provide only the final answer to the question: {question}</a:t>
            </a:r>
          </a:p>
        </p:txBody>
      </p:sp>
    </p:spTree>
    <p:extLst>
      <p:ext uri="{BB962C8B-B14F-4D97-AF65-F5344CB8AC3E}">
        <p14:creationId xmlns:p14="http://schemas.microsoft.com/office/powerpoint/2010/main" val="2929273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BDA1-3728-9E48-1312-9D10680E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Overall Relaxed Accuracy</a:t>
            </a:r>
          </a:p>
        </p:txBody>
      </p:sp>
      <p:graphicFrame>
        <p:nvGraphicFramePr>
          <p:cNvPr id="4" name="Chart"/>
          <p:cNvGraphicFramePr/>
          <p:nvPr>
            <p:extLst>
              <p:ext uri="{D42A27DB-BD31-4B8C-83A1-F6EECF244321}">
                <p14:modId xmlns:p14="http://schemas.microsoft.com/office/powerpoint/2010/main" val="3574270002"/>
              </p:ext>
            </p:extLst>
          </p:nvPr>
        </p:nvGraphicFramePr>
        <p:xfrm>
          <a:off x="838200" y="1651000"/>
          <a:ext cx="105156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70DF8F-5618-BB65-2C67-43CDBC17408E}"/>
              </a:ext>
            </a:extLst>
          </p:cNvPr>
          <p:cNvSpPr txBox="1"/>
          <p:nvPr/>
        </p:nvSpPr>
        <p:spPr>
          <a:xfrm>
            <a:off x="3250716" y="5588000"/>
            <a:ext cx="82391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Gray numbers are from Claude 3.5 model card: </a:t>
            </a:r>
            <a:br>
              <a:rPr lang="en-US" dirty="0"/>
            </a:br>
            <a:r>
              <a:rPr lang="en-US" dirty="0">
                <a:hlinkClick r:id="rId3"/>
              </a:rPr>
              <a:t>https://www-cdn.anthropic.com/c7822cdc35ad788ec87e14b3a9d45010f1f86c38.pdf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88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7894-C769-4814-0F9F-F7C28F02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Relaxed Accuracy by Question Type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42660-7DB0-DECC-46C2-DC9D97658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Qwen2-VL-2B (Ours)</a:t>
            </a:r>
          </a:p>
          <a:p>
            <a:pPr lvl="1"/>
            <a:r>
              <a:rPr lang="en-US" dirty="0" err="1"/>
              <a:t>ChartQA</a:t>
            </a:r>
            <a:r>
              <a:rPr lang="en-US" dirty="0"/>
              <a:t>-H (reasoning): 		</a:t>
            </a:r>
            <a:r>
              <a:rPr lang="en-US" b="1" dirty="0">
                <a:solidFill>
                  <a:srgbClr val="FF0000"/>
                </a:solidFill>
              </a:rPr>
              <a:t>59.12%</a:t>
            </a:r>
          </a:p>
          <a:p>
            <a:pPr lvl="1"/>
            <a:r>
              <a:rPr lang="en-US" dirty="0"/>
              <a:t>ChartQA-M (extractive): 	92.40%</a:t>
            </a:r>
          </a:p>
          <a:p>
            <a:pPr lvl="1"/>
            <a:r>
              <a:rPr lang="en-US" dirty="0"/>
              <a:t>Overall: 				75.76%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Takeaway: </a:t>
            </a:r>
          </a:p>
          <a:p>
            <a:pPr lvl="1"/>
            <a:r>
              <a:rPr lang="en-US" dirty="0"/>
              <a:t>extractive questions are easy, nearly saturated</a:t>
            </a:r>
          </a:p>
          <a:p>
            <a:pPr lvl="1"/>
            <a:r>
              <a:rPr lang="en-US" dirty="0"/>
              <a:t>the gap is mostly in human reasoning questions</a:t>
            </a:r>
          </a:p>
        </p:txBody>
      </p:sp>
    </p:spTree>
    <p:extLst>
      <p:ext uri="{BB962C8B-B14F-4D97-AF65-F5344CB8AC3E}">
        <p14:creationId xmlns:p14="http://schemas.microsoft.com/office/powerpoint/2010/main" val="141464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3730-F58C-7376-3C08-CDB385FCA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rewording spread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8463C-C809-7EE8-2AC2-5563CD287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Prompt: 	75.76%</a:t>
            </a:r>
          </a:p>
          <a:p>
            <a:r>
              <a:rPr lang="en-US" dirty="0"/>
              <a:t>Concise Prompt: 	68.80% </a:t>
            </a:r>
          </a:p>
          <a:p>
            <a:endParaRPr lang="en-US" dirty="0"/>
          </a:p>
          <a:p>
            <a:r>
              <a:rPr lang="en-US" dirty="0"/>
              <a:t>Takeaway</a:t>
            </a:r>
          </a:p>
          <a:p>
            <a:pPr lvl="1"/>
            <a:r>
              <a:rPr lang="en-US" dirty="0"/>
              <a:t>Rewording the prompt to concise dropped accuracy by 6.96. </a:t>
            </a:r>
          </a:p>
          <a:p>
            <a:pPr lvl="1"/>
            <a:r>
              <a:rPr lang="en-US" dirty="0"/>
              <a:t>Prompt styling matters, can act as a hidden confound when comparing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700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F2C2F-2B05-4333-089D-309D2AE4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Qwen2-VL-2B Failures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1BA9B-F8CC-7BA4-CFD2-3CCA49270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352" y="1690688"/>
            <a:ext cx="3877604" cy="44780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9F74B2-ABBD-5F22-6F90-D5813B82DB56}"/>
              </a:ext>
            </a:extLst>
          </p:cNvPr>
          <p:cNvSpPr txBox="1"/>
          <p:nvPr/>
        </p:nvSpPr>
        <p:spPr>
          <a:xfrm>
            <a:off x="5584902" y="2623097"/>
            <a:ext cx="59689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1" dirty="0">
                <a:solidFill>
                  <a:schemeClr val="tx1"/>
                </a:solidFill>
                <a:effectLst/>
                <a:latin typeface="+mn-lt"/>
              </a:rPr>
              <a:t>Q: "What's the 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+mn-lt"/>
              </a:rPr>
              <a:t>average</a:t>
            </a:r>
            <a:r>
              <a:rPr lang="en-US" sz="2400" b="0" i="1" dirty="0">
                <a:solidFill>
                  <a:schemeClr val="tx1"/>
                </a:solidFill>
                <a:effectLst/>
                <a:latin typeface="+mn-lt"/>
              </a:rPr>
              <a:t> of all the values in the 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+mn-lt"/>
              </a:rPr>
              <a:t>green</a:t>
            </a:r>
            <a:r>
              <a:rPr lang="en-US" sz="2400" b="0" i="1" dirty="0">
                <a:solidFill>
                  <a:schemeClr val="tx1"/>
                </a:solidFill>
                <a:effectLst/>
                <a:latin typeface="+mn-lt"/>
              </a:rPr>
              <a:t> bars (round to one decimal)?“</a:t>
            </a:r>
          </a:p>
          <a:p>
            <a:endParaRPr lang="en-US" sz="2400" i="1" dirty="0"/>
          </a:p>
          <a:p>
            <a:r>
              <a:rPr lang="en-US" sz="2400" i="1" dirty="0"/>
              <a:t>A: 21.6</a:t>
            </a:r>
          </a:p>
          <a:p>
            <a:endParaRPr lang="en-US" sz="2400" i="1" dirty="0"/>
          </a:p>
          <a:p>
            <a:r>
              <a:rPr lang="en-US" sz="2400" i="1" dirty="0"/>
              <a:t>Qwen: </a:t>
            </a:r>
            <a:r>
              <a:rPr lang="en-US" sz="2400" i="1" dirty="0">
                <a:solidFill>
                  <a:srgbClr val="FF0000"/>
                </a:solidFill>
              </a:rPr>
              <a:t>30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79668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0FC8C-1EC1-82F4-9613-22A84BC86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8A5E-C07E-D5D3-FD9C-AF5A445F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Qwen2-VL-2B Failures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53BB09-C440-98E3-F0CD-1283BE276FCC}"/>
              </a:ext>
            </a:extLst>
          </p:cNvPr>
          <p:cNvSpPr txBox="1"/>
          <p:nvPr/>
        </p:nvSpPr>
        <p:spPr>
          <a:xfrm>
            <a:off x="7483276" y="2515380"/>
            <a:ext cx="439398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1" dirty="0">
                <a:solidFill>
                  <a:schemeClr val="tx1"/>
                </a:solidFill>
                <a:effectLst/>
                <a:latin typeface="+mn-lt"/>
              </a:rPr>
              <a:t>Q: "</a:t>
            </a:r>
            <a:r>
              <a:rPr lang="en-US" sz="2400" i="1" dirty="0"/>
              <a:t>Are the number of deaths per 100000 in 2002 in </a:t>
            </a:r>
            <a:r>
              <a:rPr lang="en-US" sz="2400" b="1" i="1" dirty="0"/>
              <a:t>Slovenia</a:t>
            </a:r>
            <a:r>
              <a:rPr lang="en-US" sz="2400" i="1" dirty="0"/>
              <a:t> more than that of </a:t>
            </a:r>
            <a:r>
              <a:rPr lang="en-US" sz="2400" b="1" i="1" dirty="0"/>
              <a:t>Costa Rica and Colombia combined</a:t>
            </a:r>
            <a:r>
              <a:rPr lang="en-US" sz="2400" i="1" dirty="0"/>
              <a:t>?”</a:t>
            </a:r>
            <a:endParaRPr lang="en-US" sz="3200" b="0" i="1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sz="2400" i="1" dirty="0"/>
          </a:p>
          <a:p>
            <a:r>
              <a:rPr lang="en-US" sz="2400" i="1" dirty="0"/>
              <a:t>A: No</a:t>
            </a:r>
          </a:p>
          <a:p>
            <a:endParaRPr lang="en-US" sz="2400" i="1" dirty="0"/>
          </a:p>
          <a:p>
            <a:r>
              <a:rPr lang="en-US" sz="2400" i="1" dirty="0"/>
              <a:t>Qwen: </a:t>
            </a:r>
            <a:r>
              <a:rPr lang="en-US" sz="2400" i="1" dirty="0">
                <a:solidFill>
                  <a:srgbClr val="FF0000"/>
                </a:solidFill>
              </a:rPr>
              <a:t>Yes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6D12FE-B3E8-68AD-84EE-335DEE40D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91" y="1869108"/>
            <a:ext cx="6989652" cy="413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79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7B71-2F87-3222-0B59-9806235C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DDE85-3571-10B5-022D-08B6537D4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Qwen2-VL-2B scores 75.76% overall relaxed accuracy on </a:t>
            </a:r>
            <a:r>
              <a:rPr lang="en-US" dirty="0" err="1"/>
              <a:t>ChartQA</a:t>
            </a:r>
            <a:r>
              <a:rPr lang="en-US" dirty="0"/>
              <a:t>, with considerable gap to larger models (80.8 - 90.8%).</a:t>
            </a:r>
          </a:p>
          <a:p>
            <a:endParaRPr lang="en-US" dirty="0"/>
          </a:p>
          <a:p>
            <a:r>
              <a:rPr lang="en-US" dirty="0"/>
              <a:t>Qwen2-VL-2B struggles on H-set (59.12%) that requires calculation and reasoning vs M-set (92.40%) that is more straightforward.</a:t>
            </a:r>
          </a:p>
          <a:p>
            <a:pPr lvl="1"/>
            <a:r>
              <a:rPr lang="en-US" dirty="0"/>
              <a:t>e.g., averaging across bars, comparing sums of categories.</a:t>
            </a:r>
          </a:p>
          <a:p>
            <a:endParaRPr lang="en-US" dirty="0"/>
          </a:p>
          <a:p>
            <a:r>
              <a:rPr lang="en-US" dirty="0"/>
              <a:t>Rewording the prompt moved accuracy by 6.96, potentially a hidden confound.</a:t>
            </a:r>
          </a:p>
        </p:txBody>
      </p:sp>
    </p:spTree>
    <p:extLst>
      <p:ext uri="{BB962C8B-B14F-4D97-AF65-F5344CB8AC3E}">
        <p14:creationId xmlns:p14="http://schemas.microsoft.com/office/powerpoint/2010/main" val="3370440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8BB6-39A5-6D54-0883-8BCD52B15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6D5EE-7D67-DD29-A327-443B5B373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https://github.com/pratch/frontier-hw-benchmark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Main files</a:t>
            </a:r>
          </a:p>
          <a:p>
            <a:pPr lvl="1"/>
            <a:r>
              <a:rPr lang="en-US" dirty="0"/>
              <a:t>run_eval.sh 			run the ChartQA evaluation</a:t>
            </a:r>
          </a:p>
          <a:p>
            <a:pPr lvl="1"/>
            <a:r>
              <a:rPr lang="en-US" dirty="0"/>
              <a:t>run_spread_analysis.py 	prompt rewording spread</a:t>
            </a:r>
          </a:p>
          <a:p>
            <a:pPr lvl="1"/>
            <a:r>
              <a:rPr lang="en-US" dirty="0"/>
              <a:t>test_scorer.py 			scorer unit tests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63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8A1C-B51D-8B0B-F9B3-FE1E2D266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Appendix: Hardware and 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0A84-31CA-DA0B-E914-7567349AB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GPU, fp16, peak VRAM 4.54 GB (RTX 3090 Ti, V100 compute/memory profile)</a:t>
            </a:r>
          </a:p>
          <a:p>
            <a:r>
              <a:rPr lang="en-US" dirty="0"/>
              <a:t>Throughput: 2.91 samples/sec</a:t>
            </a:r>
          </a:p>
          <a:p>
            <a:r>
              <a:rPr lang="en-US" dirty="0"/>
              <a:t>Full test set (2,500 items): 859.45s (~14.3 min) = 0.2387 GPU-hours</a:t>
            </a:r>
          </a:p>
          <a:p>
            <a:r>
              <a:rPr lang="en-US" dirty="0"/>
              <a:t>Response length: mean 4.41 tokens, median 4, max 20</a:t>
            </a:r>
          </a:p>
          <a:p>
            <a:r>
              <a:rPr lang="en-US" dirty="0"/>
              <a:t>Truncation rate: 0.00% (0 / 2,500), so the 64-token cap never cut an answer off</a:t>
            </a:r>
          </a:p>
        </p:txBody>
      </p:sp>
    </p:spTree>
    <p:extLst>
      <p:ext uri="{BB962C8B-B14F-4D97-AF65-F5344CB8AC3E}">
        <p14:creationId xmlns:p14="http://schemas.microsoft.com/office/powerpoint/2010/main" val="4073539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F268-2A9E-C0DD-679B-071899B90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Appendix: Setup and Reproduction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75907-263F-CD8F-36A6-E84749B3B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Environment: python3 venv, torch + torchvision (CUDA 12.1 wheels)</a:t>
            </a:r>
          </a:p>
          <a:p>
            <a:r>
              <a:rPr lang="en-US" dirty="0"/>
              <a:t>Packages: transformers &gt;= 4.45.0, accelerate, qwen-vl-utils, tqdm, editdistance, pillow</a:t>
            </a:r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./run_eval.sh</a:t>
            </a:r>
          </a:p>
          <a:p>
            <a:pPr lvl="1"/>
            <a:r>
              <a:rPr lang="en-US" dirty="0"/>
              <a:t>python run_spread_analysis.py</a:t>
            </a:r>
          </a:p>
          <a:p>
            <a:pPr lvl="1"/>
            <a:r>
              <a:rPr lang="en-US" dirty="0"/>
              <a:t>python test_scorer.py</a:t>
            </a:r>
          </a:p>
          <a:p>
            <a:r>
              <a:rPr lang="en-US" dirty="0"/>
              <a:t>Fixed seed (42) and greedy decoding, so runs are repeatable</a:t>
            </a:r>
          </a:p>
        </p:txBody>
      </p:sp>
    </p:spTree>
    <p:extLst>
      <p:ext uri="{BB962C8B-B14F-4D97-AF65-F5344CB8AC3E}">
        <p14:creationId xmlns:p14="http://schemas.microsoft.com/office/powerpoint/2010/main" val="58667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42fc33-7f5b-4d03-ac50-a5339ea28b23}">
  <we:reference id="WA200010725" version="1.0.0.1" store="en-US" storeType="OMEX"/>
  <we:alternateReferences/>
  <we:properties>
    <we:property name="Microsoft.Office.CampaignId" value="&quot;none&quot;"/>
    <we:property name="claude.fileId" value="&quot;4709f438-71bb-4059-b2ac-01bb1a298a41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1832</TotalTime>
  <Words>811</Words>
  <Application>Microsoft Office PowerPoint</Application>
  <PresentationFormat>Widescreen</PresentationFormat>
  <Paragraphs>104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Office Theme</vt:lpstr>
      <vt:lpstr>ChartQA Benchmark on Qwen2-VL-2B</vt:lpstr>
      <vt:lpstr>ChartQA (Masry et al., ACL 2022 Findings) </vt:lpstr>
      <vt:lpstr>Example M-Set Question (machine, extractive)</vt:lpstr>
      <vt:lpstr>Example H-Set Question (human, reasoning)</vt:lpstr>
      <vt:lpstr>Original Paper Eval</vt:lpstr>
      <vt:lpstr>The Small Model I chose</vt:lpstr>
      <vt:lpstr>Metrics</vt:lpstr>
      <vt:lpstr>Results: Overall Relaxed Accuracy</vt:lpstr>
      <vt:lpstr>Relaxed Accuracy by Question Type </vt:lpstr>
      <vt:lpstr>Prompt rewording spread</vt:lpstr>
      <vt:lpstr>Example Qwen2-VL-2B Failures</vt:lpstr>
      <vt:lpstr>Example Qwen2-VL-2B Failures</vt:lpstr>
      <vt:lpstr>Summary</vt:lpstr>
      <vt:lpstr>Github</vt:lpstr>
      <vt:lpstr>Appendix: Hardware and Runtime</vt:lpstr>
      <vt:lpstr>Appendix: Setup and Reproduction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Pratch​ Piyawongwisal​</cp:lastModifiedBy>
  <cp:revision>18</cp:revision>
  <dcterms:created xsi:type="dcterms:W3CDTF">2018-06-07T21:39:02Z</dcterms:created>
  <dcterms:modified xsi:type="dcterms:W3CDTF">2026-09-16T19:51:48Z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